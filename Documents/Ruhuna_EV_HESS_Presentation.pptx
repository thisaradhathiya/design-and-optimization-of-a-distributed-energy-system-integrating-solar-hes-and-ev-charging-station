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6096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Introduce yourself and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simulation layers work together every 15-min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DSS files define the complete network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Python files work together. ems_controller is the 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15-min step: Python runs all 5 rules, sends commands to OpenDSS, reads voltages.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Scenario 1 results. Grid-free from 06:15 to 17:00.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of 5 violations resolved. 2 remaining need PV size reduction or reactive power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buildings have real data. Others still use assumed profiles as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5 objectives addressed. Objectives 4 and 5 partially met — future work proposed.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key findings and open the floor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0"/>
            <a:ext cx="54864" cy="6858000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B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Ruhuna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B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Engineering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Station with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Energy Storage System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OpenDSS + Python EMS — System Architecture &amp; Simulation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3703320"/>
            <a:ext cx="10515600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 Presentation  |  June 2026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Perera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renewable energy system for University of Ruhuna Faculty of Engineering campus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21031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71600"/>
            <a:ext cx="2103120" cy="411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4475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PV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8745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1821.6 kWp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buildings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51760" y="1371600"/>
            <a:ext cx="21031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51760" y="1371600"/>
            <a:ext cx="2103120" cy="41148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144475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51760" y="18745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kWh / 100 kW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LiFePO4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0" y="1371600"/>
            <a:ext cx="21031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0" y="1371600"/>
            <a:ext cx="210312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144475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SuperCap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18745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kWh / 100 kW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 buffer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406640" y="1371600"/>
            <a:ext cx="21031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406640" y="1371600"/>
            <a:ext cx="210312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06640" y="144475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06640" y="18745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22 kW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Type 2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784080" y="1371600"/>
            <a:ext cx="21031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784080" y="1371600"/>
            <a:ext cx="2103120" cy="41148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84080" y="144475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CEB Grid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784080" y="18745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33kV / 415V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kVA TX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383280"/>
            <a:ext cx="5303520" cy="2377440"/>
          </a:xfrm>
          <a:prstGeom prst="rect">
            <a:avLst/>
          </a:prstGeom>
          <a:solidFill>
            <a:srgbClr val="EFF6FF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3832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OpenDSS Layer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379476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26-bus 415V LV network model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cable sizes and lengths from site SLD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PV systems at individual building buses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calculation at all 24 buses per step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1000 kVA 33kV/415V Dyn11 modelled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09360" y="3383280"/>
            <a:ext cx="5577840" cy="2377440"/>
          </a:xfrm>
          <a:prstGeom prst="rect">
            <a:avLst/>
          </a:prstGeom>
          <a:solidFill>
            <a:srgbClr val="ECFDF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338328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EMS Layer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92240" y="3794760"/>
            <a:ext cx="5212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measured EV demand profile (82.8 kW peak)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Per-building load profiles (assumed + real logger)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tracking via energy balance equation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EMS rules: peak shave, charge, discharge, SC spike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50 columns including 24 bus voltages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32120" y="42976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OpenDSS Network Model — Campus LV Network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5669280" cy="1188720"/>
          </a:xfrm>
          <a:prstGeom prst="rect">
            <a:avLst/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2801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3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Master.dss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64592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definition, voltage bases, compilation order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514600"/>
            <a:ext cx="5669280" cy="1188720"/>
          </a:xfrm>
          <a:prstGeom prst="rect">
            <a:avLst/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26060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3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Lines.dss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297180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line segments, real cable sizes (50–150mm²), real lengths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3840480"/>
            <a:ext cx="5669280" cy="1188720"/>
          </a:xfrm>
          <a:prstGeom prst="rect">
            <a:avLst/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39319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3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Loads.dss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" y="429768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loads — per-building profiles, real data for 3 buildings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5166360"/>
            <a:ext cx="5669280" cy="1188720"/>
          </a:xfrm>
          <a:prstGeom prst="rect">
            <a:avLst/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52578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3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PVSystem.dss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1480" y="562356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PV systems (Gym+HostelD disabled — overvoltage risk)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1188720"/>
            <a:ext cx="5669280" cy="1188720"/>
          </a:xfrm>
          <a:prstGeom prst="rect">
            <a:avLst/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55080" y="12801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9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LoadShapes.dss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55080" y="164592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loadshapes — 3 real (logger) + 11 assumed + solar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2514600"/>
            <a:ext cx="5669280" cy="1188720"/>
          </a:xfrm>
          <a:prstGeom prst="rect">
            <a:avLst/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55080" y="26060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9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Battery.dss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55080" y="297180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kWh / 100 kW LiFePO4, SOC 15-90%, EXTERNAL mode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3840480"/>
            <a:ext cx="5669280" cy="1188720"/>
          </a:xfrm>
          <a:prstGeom prst="rect">
            <a:avLst/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55080" y="39319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9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SuperCap.dss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55080" y="429768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kWh / 100 kW, SOC 20-95%, EXTERNAL mode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5166360"/>
            <a:ext cx="5669280" cy="1188720"/>
          </a:xfrm>
          <a:prstGeom prst="rect">
            <a:avLst/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355080" y="52578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9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Monitors.dss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55080" y="562356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monitors at key buses for post-processing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EMS — 4 Module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4320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274320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704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config.py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645920"/>
            <a:ext cx="256032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system parameters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 600kWh/100kW, SC 1kWh/100kW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total 1821.6 kWp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limits: 0.94-1.06 pu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factor: 0.7123 kg/kWh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274320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143000"/>
            <a:ext cx="2743200" cy="411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1704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load_profiles.py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1645920"/>
            <a:ext cx="256032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building-type profiles (assumed)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LS_ElecDept — real data logger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LS_Workshop_Real — CT corrected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LS_Civil_Real — real data logger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Solar: PVGIS+PySAM Matara 96-step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143000"/>
            <a:ext cx="274320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143000"/>
            <a:ext cx="2743200" cy="41148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1704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ems_controller.py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1645920"/>
            <a:ext cx="256032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run_step() — called 96 times per day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dispatch rules (B1-B4 + SC)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tracking via energy balance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at all 24 buses per step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50-column CSV output per scenario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52560" y="1143000"/>
            <a:ext cx="274320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052560" y="1143000"/>
            <a:ext cx="274320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52560" y="11704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run_simulation.py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0" y="1645920"/>
            <a:ext cx="256032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scenarios: clear/cloudy/high/no-EV/no-solar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init_opendss() compiles DSS model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ems_controller step by step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results to 05_Results folder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EMS Dispatch Logic — 5 Rules per 15-min Step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19456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2194560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61288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166420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BESS from Solar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240280"/>
            <a:ext cx="2011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PV available and SOC &lt; 90% → charge battery at up to 100 kW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tracked via energy balance (not OpenDSS API)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15184" y="1143000"/>
            <a:ext cx="219456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15184" y="1143000"/>
            <a:ext cx="2194560" cy="4572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15184" y="1161288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706624" y="166420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EV from Solar + BESS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06624" y="2240280"/>
            <a:ext cx="2011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measured profile (9:00–18:45, peak 82.8 kW at 15:00)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first, BESS supplements if solar insufficient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956048" y="1143000"/>
            <a:ext cx="219456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56048" y="1143000"/>
            <a:ext cx="2194560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56048" y="1161288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047488" y="166420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Load Support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47488" y="2240280"/>
            <a:ext cx="2011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17:30–22:30: BESS discharges to supply faculty load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 discharges 90%→15% SOC over evening period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296912" y="1143000"/>
            <a:ext cx="219456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296912" y="1143000"/>
            <a:ext cx="219456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96912" y="1161288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388352" y="166420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Shaving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88352" y="2240280"/>
            <a:ext cx="2011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net demand &gt; 204 kW (85% of 240 kW limit)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 dispatched to cut peak below threshold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637776" y="1143000"/>
            <a:ext cx="219456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637776" y="1143000"/>
            <a:ext cx="2194560" cy="45720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37776" y="1161288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729216" y="166420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SuperCap Spike Response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729216" y="2240280"/>
            <a:ext cx="2011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|ΔP| &gt; 30 kW between steps → SC discharges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battery ramp gap (τ = 4.14 s filter constant)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Results — Clear Day Normal Load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560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430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1821.6 kWp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783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PV Capacity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097280"/>
            <a:ext cx="2560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11430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83.8%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46120" y="1783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Self-sufficiency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097280"/>
            <a:ext cx="2560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1430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10.75 hrs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217920" y="1783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Grid-free Period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89720" y="1097280"/>
            <a:ext cx="2560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89720" y="11430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11,261 kg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189720" y="1783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Saved/day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468880"/>
            <a:ext cx="54864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251460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Daily Energy Balance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0175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Generation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0" y="3017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13,640 kWh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5204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Load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0" y="35204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2,722 kWh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0233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Load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0" y="4023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350 kWh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526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Import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0" y="45262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499 kWh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50292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 Charged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0" y="50292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431 kWh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5532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 Discharged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657600" y="5532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440 kWh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035040" y="2468880"/>
            <a:ext cx="58521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126480" y="251460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Voltage Compliance — Key Buses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217920" y="30175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GymBus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778240" y="30175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 pu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149840" y="301752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515600" y="30175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(PV disabled)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17920" y="35204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HostelDBus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778240" y="35204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 pu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149840" y="352044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0515600" y="35204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(PV disabled)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217920" y="40233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HostelCBus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778240" y="40233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1.057 pu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149840" y="402336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0515600" y="4023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(cable upgraded 95mm²)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217920" y="4526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AuditoriumBus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778240" y="45262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1.073 pu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0149840" y="452628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10515600" y="45262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(still violating)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217920" y="5029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LibraryBus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778240" y="50292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1.072 pu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0149840" y="502920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10515600" y="50292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(still violating)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217920" y="55321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ElecDeptBus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778240" y="55321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1.018 pu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10149840" y="553212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10515600" y="55321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(short cable, OK)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Overvoltage Findings &amp; Mitigation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1612880" cy="1280160"/>
          </a:xfrm>
          <a:prstGeom prst="rect">
            <a:avLst/>
          </a:prstGeom>
          <a:solidFill>
            <a:srgbClr val="FEF2F2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4B4A"/>
                </a:solidFill>
              </a:rPr>
              <a:t>Root Cause: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94560" y="1170432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PV injection on long LV feeders with light local loads → reverse power flow → voltage rise. Formula: ΔV = (P×R + Q×X) / V²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514600"/>
            <a:ext cx="1161288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54203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20240" y="254203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V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0" y="254203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/ Cable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60720" y="254203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418320" y="254203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971800"/>
            <a:ext cx="11612880" cy="62179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044952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GymBus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920240" y="3044952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1.174 pu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83280" y="3044952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171.8 kWp / 709m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760720" y="3044952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PV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418320" y="3044952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 pu ✓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630168"/>
            <a:ext cx="11612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70332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HostelDBus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920240" y="370332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1.086 pu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83280" y="370332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111.5 kWp / 576m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760720" y="370332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PV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418320" y="370332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 pu ✓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4288536"/>
            <a:ext cx="11612880" cy="62179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36168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HostelCBus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920240" y="436168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1.079 pu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383280" y="436168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135.3 kWp / 377m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760720" y="436168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cable 70→95mm²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418320" y="436168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1.057 pu ✓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4320" y="4946904"/>
            <a:ext cx="11612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5020056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AuditoriumBus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920240" y="5020056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1.073 pu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383280" y="5020056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210.0 kWp / 549m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760720" y="5020056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PV to 155 kWp OR pf=0.95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418320" y="5020056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⚠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74320" y="5605272"/>
            <a:ext cx="11612880" cy="62179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5678424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LibraryBus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920240" y="5678424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1.072 pu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383280" y="5678424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125.1 kWp / 869m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760720" y="5678424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PV to 97 kWp OR pf=0.95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9418320" y="5678424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⚠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274320" y="6263640"/>
            <a:ext cx="1161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limit: 0.94–1.06 pu  (CEB Sri Lanka grid code / IEC 60038)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Logger Integration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432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2743200" cy="38404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612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591056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Dept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08483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BAC4"/>
                </a:solidFill>
              </a:rPr>
              <a:t>Real peak: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37360" y="2084832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D9E75"/>
                </a:solidFill>
              </a:rPr>
              <a:t>33.33 kW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5603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BAC4"/>
                </a:solidFill>
              </a:rPr>
              <a:t>Assumed was: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37360" y="25603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D9E75"/>
                </a:solidFill>
              </a:rPr>
              <a:t>23.69 kW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03580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BAC4"/>
                </a:solidFill>
              </a:rPr>
              <a:t>Avg PF: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37360" y="303580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D9E75"/>
                </a:solidFill>
              </a:rPr>
              <a:t>0.976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703320"/>
            <a:ext cx="25603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767328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+41% higher than assumed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46120" y="1143000"/>
            <a:ext cx="27432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46120" y="1143000"/>
            <a:ext cx="2743200" cy="38404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6120" y="11612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37560" y="1591056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Workshop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37560" y="208483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BAC4"/>
                </a:solidFill>
              </a:rPr>
              <a:t>Real peak: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2084832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D9E75"/>
                </a:solidFill>
              </a:rPr>
              <a:t> 3.51 kW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37560" y="25603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BAC4"/>
                </a:solidFill>
              </a:rPr>
              <a:t>Assumed was: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09160" y="25603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D9E75"/>
                </a:solidFill>
              </a:rPr>
              <a:t> 0.31 kW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37560" y="303580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BAC4"/>
                </a:solidFill>
              </a:rPr>
              <a:t>Avg PF: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09160" y="303580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D9E75"/>
                </a:solidFill>
              </a:rPr>
              <a:t>0.511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37560" y="3703320"/>
            <a:ext cx="25603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37560" y="3767328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Phase 1 reversed — corrected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1143000"/>
            <a:ext cx="27432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1143000"/>
            <a:ext cx="2743200" cy="38404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11612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09360" y="1591056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 Dept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09360" y="208483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BAC4"/>
                </a:solidFill>
              </a:rPr>
              <a:t>Real peak: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680960" y="2084832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D9E75"/>
                </a:solidFill>
              </a:rPr>
              <a:t>13.50 kW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09360" y="25603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BAC4"/>
                </a:solidFill>
              </a:rPr>
              <a:t>Assumed was: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680960" y="25603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D9E75"/>
                </a:solidFill>
              </a:rPr>
              <a:t>23.69 kW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09360" y="303580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BAC4"/>
                </a:solidFill>
              </a:rPr>
              <a:t>Avg PF: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680960" y="303580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D9E75"/>
                </a:solidFill>
              </a:rPr>
              <a:t>0.865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09360" y="3703320"/>
            <a:ext cx="25603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360" y="3767328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-43% lower than assumed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189720" y="1143000"/>
            <a:ext cx="27432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189720" y="1143000"/>
            <a:ext cx="274320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89720" y="11612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Assumed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281160" y="1591056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Other Bldgs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281160" y="208483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BAC4"/>
                </a:solidFill>
              </a:rPr>
              <a:t>Real peak: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652760" y="2084832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A623"/>
                </a:solidFill>
              </a:rPr>
              <a:t>Varies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281160" y="25603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BAC4"/>
                </a:solidFill>
              </a:rPr>
              <a:t>Assumed was: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0652760" y="25603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A623"/>
                </a:solidFill>
              </a:rPr>
              <a:t>As designed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281160" y="303580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BAC4"/>
                </a:solidFill>
              </a:rPr>
              <a:t>Avg PF: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0652760" y="303580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A623"/>
                </a:solidFill>
              </a:rPr>
              <a:t>0.90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9281160" y="3703320"/>
            <a:ext cx="25603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281160" y="3767328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 data pending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Workflow: Upload Excel → CT problem check → 96-step profile → update 4 files → run simulation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vs Simulation Results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11612880" cy="1005840"/>
          </a:xfrm>
          <a:prstGeom prst="rect">
            <a:avLst/>
          </a:prstGeom>
          <a:solidFill>
            <a:srgbClr val="F0F9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109728" cy="1005840"/>
          </a:xfrm>
          <a:prstGeom prst="rect">
            <a:avLst/>
          </a:prstGeom>
          <a:solidFill>
            <a:srgbClr val="1D9E7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16152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1.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216152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simulate EV charging station with HESS on campus LV network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0" y="1399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7377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94960" y="1216152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26-bus OpenDSS model with real cable data, 5 scenarios simulated, 96-step daily results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240280"/>
            <a:ext cx="11612880" cy="1005840"/>
          </a:xfrm>
          <a:prstGeom prst="rect">
            <a:avLst/>
          </a:prstGeom>
          <a:solidFill>
            <a:srgbClr val="F0FFF4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240280"/>
            <a:ext cx="109728" cy="1005840"/>
          </a:xfrm>
          <a:prstGeom prst="rect">
            <a:avLst/>
          </a:prstGeom>
          <a:solidFill>
            <a:srgbClr val="1D9E7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313432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2.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2313432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reduced operational costs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496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7377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94960" y="2313432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import reduced to 499 kWh/day. 83.8% self-sufficiency → significant cost saving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337560"/>
            <a:ext cx="11612880" cy="1005840"/>
          </a:xfrm>
          <a:prstGeom prst="rect">
            <a:avLst/>
          </a:prstGeom>
          <a:solidFill>
            <a:srgbClr val="F0F9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337560"/>
            <a:ext cx="109728" cy="1005840"/>
          </a:xfrm>
          <a:prstGeom prst="rect">
            <a:avLst/>
          </a:prstGeom>
          <a:solidFill>
            <a:srgbClr val="1D9E7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410712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3.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3410712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carbon emissions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3593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7377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94960" y="3410712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11,261 kg CO₂ saved per clear day (0.7123 kg/kWh × PV energy, SEA 2022)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4434840"/>
            <a:ext cx="11612880" cy="1005840"/>
          </a:xfrm>
          <a:prstGeom prst="rect">
            <a:avLst/>
          </a:prstGeom>
          <a:solidFill>
            <a:srgbClr val="F0FFF4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4434840"/>
            <a:ext cx="109728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507992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4.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4507992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energy utilisation efficiency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4690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7377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94960" y="4507992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83.8% local supply, BESS round-trip 94.1%, EV charged from solar (349.7 kWh/day)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5532120"/>
            <a:ext cx="11612880" cy="1005840"/>
          </a:xfrm>
          <a:prstGeom prst="rect">
            <a:avLst/>
          </a:prstGeom>
          <a:solidFill>
            <a:srgbClr val="F0F9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5532120"/>
            <a:ext cx="109728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5605272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5.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2960" y="5605272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compliance across campus network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37760" y="57881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7377"/>
                </a:solidFill>
              </a:rPr>
              <a:t>→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94960" y="5605272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3/5 violation buses resolved. AuditoriumBus+LibraryBus: PV reduction or pf=0.95 proposed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&amp; Conclusion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486400" cy="5303520"/>
          </a:xfrm>
          <a:prstGeom prst="rect">
            <a:avLst/>
          </a:prstGeom>
          <a:solidFill>
            <a:srgbClr val="0D213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377"/>
                </a:solidFill>
              </a:rPr>
              <a:t>Future Work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52120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logger profiles for remaining buildings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size optimisation using real P_min_load values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power control (pf=0.95) for Auditorium + Library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MATLAB/Simulink SC transient analysis (ms timestep)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power quality study (OpenDSS Harmonics mode)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analysis: NPV, payback period, LCOE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validation after system installation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1005840"/>
            <a:ext cx="5760720" cy="5303520"/>
          </a:xfrm>
          <a:prstGeom prst="rect">
            <a:avLst/>
          </a:prstGeom>
          <a:solidFill>
            <a:srgbClr val="0D213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107899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9E75"/>
                </a:solidFill>
              </a:rPr>
              <a:t>Key Conclusions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63640" y="155448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achieves 83.8% self-sufficiency on clear days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Grid-free operation 06:15–17:00 (10.75 hours)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saving: 11,261 kg/day (SEA emission factor)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 SOC: 23%→90%→15% — EMS logic confirmed working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overvoltage buses resolved through engineering measures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logger shows peak loads differ from assumed (up to 41%)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imbalance found at Workshop (65%) and Civil (CT reversal)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AC-coupled HESS architecture validated in OpenDSS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6492240"/>
            <a:ext cx="11521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Ruhuna FoE — EV Charging HESS Project — June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1395</Words>
  <Application>Microsoft Office PowerPoint</Application>
  <PresentationFormat>Widescreen</PresentationFormat>
  <Paragraphs>278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Thisara Karunarathna</cp:lastModifiedBy>
  <cp:revision>1</cp:revision>
  <dcterms:created xsi:type="dcterms:W3CDTF">2026-07-14T16:48:02Z</dcterms:created>
  <dcterms:modified xsi:type="dcterms:W3CDTF">2026-07-14T16:51:29Z</dcterms:modified>
</cp:coreProperties>
</file>